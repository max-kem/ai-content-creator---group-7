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lus Jakarta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akcz9N0JcCQaeM7QX7382pDFI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.fntdata"/><Relationship Id="rId6" Type="http://schemas.openxmlformats.org/officeDocument/2006/relationships/slide" Target="slides/slide1.xml"/><Relationship Id="rId18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051ff8d553358a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h1051ff8d553358a1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1d6895f2cb059417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1d6895f2cb0594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112f3c18fd02c57c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112f3c18fd02c57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112f3c18fd02c57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h112f3c18fd02c57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c__S3JwKUh9nn3_Kfe7mShdskWJMAOv5/view" TargetMode="External"/><Relationship Id="rId4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09600" y="2592952"/>
            <a:ext cx="11582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Ironhack - AI Consulting &amp; Integration</a:t>
            </a:r>
            <a:endParaRPr>
              <a:solidFill>
                <a:srgbClr val="6DACBE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09600" y="3064076"/>
            <a:ext cx="982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AMBOSS AI Content Creator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609600" y="3987826"/>
            <a:ext cx="653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7: Barsha Mishra, Julia Antunes, Maximilian Kempa</a:t>
            </a:r>
            <a:endParaRPr>
              <a:solidFill>
                <a:srgbClr val="6DACB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2"/>
          <p:cNvPicPr preferRelativeResize="0"/>
          <p:nvPr/>
        </p:nvPicPr>
        <p:blipFill rotWithShape="1">
          <a:blip r:embed="rId3">
            <a:alphaModFix/>
          </a:blip>
          <a:srcRect b="-530" l="7281" r="14600" t="530"/>
          <a:stretch/>
        </p:blipFill>
        <p:spPr>
          <a:xfrm>
            <a:off x="0" y="0"/>
            <a:ext cx="4139976" cy="69437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5029225" y="468935"/>
            <a:ext cx="60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Motivation 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217102" y="1848355"/>
            <a:ext cx="403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Growing Industry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5217102" y="2210305"/>
            <a:ext cx="403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Ed/Healthtech offers a rich field for AI innovation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217100" y="3556422"/>
            <a:ext cx="391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Leverage Marketing Activities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217100" y="3918370"/>
            <a:ext cx="51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 teams to create content in a fast paced environment 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228175" y="5399024"/>
            <a:ext cx="405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friendly solution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5228175" y="5760974"/>
            <a:ext cx="405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Teams can easily get the 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desired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output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052150" y="1510214"/>
            <a:ext cx="38100" cy="1362000"/>
          </a:xfrm>
          <a:prstGeom prst="rect">
            <a:avLst/>
          </a:prstGeom>
          <a:solidFill>
            <a:srgbClr val="6DACB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052150" y="3211614"/>
            <a:ext cx="38100" cy="1362000"/>
          </a:xfrm>
          <a:prstGeom prst="rect">
            <a:avLst/>
          </a:prstGeom>
          <a:solidFill>
            <a:srgbClr val="6DACB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063225" y="4971839"/>
            <a:ext cx="38100" cy="1362000"/>
          </a:xfrm>
          <a:prstGeom prst="rect">
            <a:avLst/>
          </a:prstGeom>
          <a:solidFill>
            <a:srgbClr val="6DACB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3116127" y="398609"/>
            <a:ext cx="1692647" cy="1653040"/>
            <a:chOff x="8066800" y="2487900"/>
            <a:chExt cx="3012900" cy="2942400"/>
          </a:xfrm>
        </p:grpSpPr>
        <p:sp>
          <p:nvSpPr>
            <p:cNvPr id="103" name="Google Shape;103;p2"/>
            <p:cNvSpPr/>
            <p:nvPr/>
          </p:nvSpPr>
          <p:spPr>
            <a:xfrm>
              <a:off x="8066800" y="2487900"/>
              <a:ext cx="3012900" cy="2942400"/>
            </a:xfrm>
            <a:prstGeom prst="ellipse">
              <a:avLst/>
            </a:prstGeom>
            <a:solidFill>
              <a:schemeClr val="lt1"/>
            </a:solidFill>
            <a:ln cap="flat" cmpd="sng" w="5350">
              <a:solidFill>
                <a:srgbClr val="6DAC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86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68325" y="3501567"/>
              <a:ext cx="2609850" cy="88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2"/>
          <p:cNvSpPr txBox="1"/>
          <p:nvPr/>
        </p:nvSpPr>
        <p:spPr>
          <a:xfrm>
            <a:off x="5063227" y="232663"/>
            <a:ext cx="4491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OVERVIEW</a:t>
            </a:r>
            <a:endParaRPr>
              <a:solidFill>
                <a:srgbClr val="6DACB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609600" y="609600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FOUNDATION</a:t>
            </a:r>
            <a:endParaRPr>
              <a:solidFill>
                <a:srgbClr val="6DACBE"/>
              </a:solidFill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609600" y="962025"/>
            <a:ext cx="115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Structure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233388" y="1741359"/>
            <a:ext cx="4503000" cy="4379721"/>
          </a:xfrm>
          <a:prstGeom prst="roundRect">
            <a:avLst>
              <a:gd fmla="val 776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188" y="2062435"/>
            <a:ext cx="381000" cy="321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538188" y="2624319"/>
            <a:ext cx="2575200" cy="25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Objectives (</a:t>
            </a: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T / C)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538188" y="3025664"/>
            <a:ext cx="384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Quality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Posts sounds like AMBOSS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only facts from our knowledge base 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Clearly different from a generic AI post 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538188" y="4211154"/>
            <a:ext cx="3657600" cy="415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deadline- final presentation on Day 3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538188" y="4863446"/>
            <a:ext cx="3657600" cy="623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</a:t>
            </a:r>
            <a:endParaRPr b="1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Low-cost model (gpt-4o-mini) and stay under API spend for the whole project</a:t>
            </a:r>
            <a:endParaRPr/>
          </a:p>
        </p:txBody>
      </p:sp>
      <p:grpSp>
        <p:nvGrpSpPr>
          <p:cNvPr id="118" name="Google Shape;118;p3"/>
          <p:cNvGrpSpPr/>
          <p:nvPr/>
        </p:nvGrpSpPr>
        <p:grpSpPr>
          <a:xfrm>
            <a:off x="6455613" y="1741350"/>
            <a:ext cx="4503000" cy="4544150"/>
            <a:chOff x="6455625" y="1741350"/>
            <a:chExt cx="4503000" cy="4544150"/>
          </a:xfrm>
        </p:grpSpPr>
        <p:sp>
          <p:nvSpPr>
            <p:cNvPr id="119" name="Google Shape;119;p3"/>
            <p:cNvSpPr/>
            <p:nvPr/>
          </p:nvSpPr>
          <p:spPr>
            <a:xfrm>
              <a:off x="6455625" y="1741350"/>
              <a:ext cx="4503000" cy="4379700"/>
            </a:xfrm>
            <a:prstGeom prst="roundRect">
              <a:avLst>
                <a:gd fmla="val 698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120" name="Google Shape;120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60413" y="2046212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3"/>
            <p:cNvSpPr txBox="1"/>
            <p:nvPr/>
          </p:nvSpPr>
          <p:spPr>
            <a:xfrm>
              <a:off x="6760413" y="2579612"/>
              <a:ext cx="25752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Stakeholders</a:t>
              </a: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6760413" y="2960600"/>
              <a:ext cx="4123500" cy="3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High Interest and High Influence</a:t>
              </a:r>
              <a:endParaRPr b="1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14325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Plus Jakarta Sans"/>
                <a:buChar char="●"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AMBOSS Marketing &amp; Content Team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14325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Plus Jakarta Sans"/>
                <a:buChar char="●"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AMBOSS Management / Project Sponsor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14325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Plus Jakarta Sans"/>
                <a:buChar char="●"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Project Team (AI Developers)</a:t>
              </a:r>
              <a:b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High Interest and Low Influence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143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Plus Jakarta Sans"/>
                <a:buChar char="●"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Regional Marketing Teams</a:t>
              </a:r>
              <a:b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Low Interest and High Influence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143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Plus Jakarta Sans"/>
                <a:buChar char="●"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AMBOSS Legal &amp; Data Protection Team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Low Interest and Low Influence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143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Plus Jakarta Sans"/>
                <a:buChar char="●"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AMBOSS Medical Editorial Team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3143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50"/>
                <a:buFont typeface="Plus Jakarta Sans"/>
                <a:buChar char="●"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Medical Students &amp; Healthcare Professionals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h1051ff8d553358a1_0_47"/>
          <p:cNvGrpSpPr/>
          <p:nvPr/>
        </p:nvGrpSpPr>
        <p:grpSpPr>
          <a:xfrm>
            <a:off x="1298988" y="1741325"/>
            <a:ext cx="4503000" cy="4157700"/>
            <a:chOff x="609600" y="1659550"/>
            <a:chExt cx="4503000" cy="4157700"/>
          </a:xfrm>
        </p:grpSpPr>
        <p:sp>
          <p:nvSpPr>
            <p:cNvPr id="128" name="Google Shape;128;h1051ff8d553358a1_0_47"/>
            <p:cNvSpPr txBox="1"/>
            <p:nvPr/>
          </p:nvSpPr>
          <p:spPr>
            <a:xfrm>
              <a:off x="914400" y="2497750"/>
              <a:ext cx="25752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Risks</a:t>
              </a:r>
              <a:endParaRPr/>
            </a:p>
          </p:txBody>
        </p:sp>
        <p:sp>
          <p:nvSpPr>
            <p:cNvPr id="129" name="Google Shape;129;h1051ff8d553358a1_0_47"/>
            <p:cNvSpPr txBox="1"/>
            <p:nvPr/>
          </p:nvSpPr>
          <p:spPr>
            <a:xfrm>
              <a:off x="914400" y="2878750"/>
              <a:ext cx="3657600" cy="10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Insufficient or low-quality knowledge base data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Technical integration issues with the LLM API and content pipeline</a:t>
              </a:r>
              <a:endParaRPr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" name="Google Shape;130;h1051ff8d553358a1_0_47"/>
            <p:cNvSpPr txBox="1"/>
            <p:nvPr/>
          </p:nvSpPr>
          <p:spPr>
            <a:xfrm>
              <a:off x="914400" y="4121375"/>
              <a:ext cx="3657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Time</a:t>
              </a:r>
              <a:b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Hard deadline- final presentation on Day 3</a:t>
              </a:r>
              <a:endParaRPr/>
            </a:p>
          </p:txBody>
        </p:sp>
        <p:sp>
          <p:nvSpPr>
            <p:cNvPr id="131" name="Google Shape;131;h1051ff8d553358a1_0_47"/>
            <p:cNvSpPr txBox="1"/>
            <p:nvPr/>
          </p:nvSpPr>
          <p:spPr>
            <a:xfrm>
              <a:off x="914400" y="4740600"/>
              <a:ext cx="3657600" cy="6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Cost</a:t>
              </a:r>
              <a:endParaRPr b="1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Low-cost model (gpt-4o-mini) and stay under API spend for the whole project</a:t>
              </a:r>
              <a:endParaRPr/>
            </a:p>
          </p:txBody>
        </p:sp>
        <p:sp>
          <p:nvSpPr>
            <p:cNvPr id="132" name="Google Shape;132;h1051ff8d553358a1_0_47"/>
            <p:cNvSpPr/>
            <p:nvPr/>
          </p:nvSpPr>
          <p:spPr>
            <a:xfrm>
              <a:off x="609600" y="1659550"/>
              <a:ext cx="4503000" cy="4157700"/>
            </a:xfrm>
            <a:prstGeom prst="roundRect">
              <a:avLst>
                <a:gd fmla="val 776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h1051ff8d553358a1_0_47"/>
          <p:cNvSpPr txBox="1"/>
          <p:nvPr/>
        </p:nvSpPr>
        <p:spPr>
          <a:xfrm>
            <a:off x="609600" y="609600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FOUNDATION</a:t>
            </a:r>
            <a:endParaRPr>
              <a:solidFill>
                <a:srgbClr val="6DACBE"/>
              </a:solidFill>
            </a:endParaRPr>
          </a:p>
        </p:txBody>
      </p:sp>
      <p:sp>
        <p:nvSpPr>
          <p:cNvPr id="134" name="Google Shape;134;h1051ff8d553358a1_0_47"/>
          <p:cNvSpPr txBox="1"/>
          <p:nvPr/>
        </p:nvSpPr>
        <p:spPr>
          <a:xfrm>
            <a:off x="609600" y="962025"/>
            <a:ext cx="115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Structure </a:t>
            </a:r>
            <a:endParaRPr b="1" sz="30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" name="Google Shape;135;h1051ff8d553358a1_0_47"/>
          <p:cNvSpPr/>
          <p:nvPr/>
        </p:nvSpPr>
        <p:spPr>
          <a:xfrm>
            <a:off x="6390013" y="1741325"/>
            <a:ext cx="4503000" cy="4157700"/>
          </a:xfrm>
          <a:prstGeom prst="roundRect">
            <a:avLst>
              <a:gd fmla="val 698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h1051ff8d553358a1_0_47"/>
          <p:cNvSpPr txBox="1"/>
          <p:nvPr/>
        </p:nvSpPr>
        <p:spPr>
          <a:xfrm>
            <a:off x="6694813" y="2579587"/>
            <a:ext cx="257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WBS Mapping</a:t>
            </a:r>
            <a:endParaRPr/>
          </a:p>
        </p:txBody>
      </p:sp>
      <p:sp>
        <p:nvSpPr>
          <p:cNvPr id="137" name="Google Shape;137;h1051ff8d553358a1_0_47"/>
          <p:cNvSpPr txBox="1"/>
          <p:nvPr/>
        </p:nvSpPr>
        <p:spPr>
          <a:xfrm>
            <a:off x="6694825" y="2960575"/>
            <a:ext cx="3945300" cy="27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 &amp; board</a:t>
            </a:r>
            <a:b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up, brainstorm and Trello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Knowledge bases</a:t>
            </a:r>
            <a:endParaRPr b="1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markdown and Secondary markdown set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 &amp; context</a:t>
            </a:r>
            <a:b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Markdown loader and Prompts 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&amp; differentiate</a:t>
            </a:r>
            <a:b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Running 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LLMs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Pipeline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and fine 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tuning</a:t>
            </a: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1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Adjustments and Output</a:t>
            </a:r>
            <a:endParaRPr b="1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38" name="Google Shape;138;h1051ff8d553358a1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088" y="20461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h1051ff8d553358a1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4813" y="20397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h1051ff8d553358a1_0_47"/>
          <p:cNvSpPr txBox="1"/>
          <p:nvPr/>
        </p:nvSpPr>
        <p:spPr>
          <a:xfrm>
            <a:off x="1630088" y="2620512"/>
            <a:ext cx="257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Risks</a:t>
            </a:r>
            <a:endParaRPr/>
          </a:p>
        </p:txBody>
      </p:sp>
      <p:sp>
        <p:nvSpPr>
          <p:cNvPr id="141" name="Google Shape;141;h1051ff8d553358a1_0_47"/>
          <p:cNvSpPr txBox="1"/>
          <p:nvPr/>
        </p:nvSpPr>
        <p:spPr>
          <a:xfrm>
            <a:off x="1630088" y="3001500"/>
            <a:ext cx="37086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b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Insufficient or low-quality knowledge base data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</a:t>
            </a:r>
            <a:b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integration issues with the LLM API and content pipeline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Bottlenecks</a:t>
            </a:r>
            <a:b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Delays caused by limited development time and task dependencies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/>
        </p:nvSpPr>
        <p:spPr>
          <a:xfrm>
            <a:off x="605625" y="891357"/>
            <a:ext cx="586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Knowledge Base Architecture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4428285" y="3127379"/>
            <a:ext cx="685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4428285" y="3493967"/>
            <a:ext cx="6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“write a brand_guidelines.md for AMBOSS company, based on their us instagram (@amboss_med) and website channels(amboss.com/us)”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4428285" y="4316229"/>
            <a:ext cx="685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Secondary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4428285" y="4678179"/>
            <a:ext cx="6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“write competitors analysis on https://www.amboss.com/us also with USPs, be short and concise. Find real data with facts, numbers and other business metrics”</a:t>
            </a:r>
            <a:endParaRPr/>
          </a:p>
        </p:txBody>
      </p:sp>
      <p:pic>
        <p:nvPicPr>
          <p:cNvPr id="151" name="Google Shape;15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166" y="2036655"/>
            <a:ext cx="3044594" cy="29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4428285" y="1895879"/>
            <a:ext cx="685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Website &amp; Social Media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4428285" y="2285900"/>
            <a:ext cx="685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Reference channels for prompting. US official channels for easier  language understanding.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05625" y="5636488"/>
            <a:ext cx="10762200" cy="763200"/>
          </a:xfrm>
          <a:prstGeom prst="roundRect">
            <a:avLst>
              <a:gd fmla="val 16667" name="adj"/>
            </a:avLst>
          </a:prstGeom>
          <a:solidFill>
            <a:srgbClr val="6DACBE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073406" y="5914132"/>
            <a:ext cx="1004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RAG usage: Project’s knowledge base is small and stable, so simpler method, injecting all into the prompt, works.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09600" y="609600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FOUNDATION</a:t>
            </a:r>
            <a:endParaRPr>
              <a:solidFill>
                <a:srgbClr val="6DACB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h1d6895f2cb059417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5188" y="1968748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h1d6895f2cb059417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438" y="1968748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h1d6895f2cb059417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3686" y="1968748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h1d6895f2cb059417_2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93788" y="219734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h1d6895f2cb059417_2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91138" y="219734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h1d6895f2cb059417_2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1337" y="2197348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h1d6895f2cb059417_2_0"/>
          <p:cNvSpPr txBox="1"/>
          <p:nvPr/>
        </p:nvSpPr>
        <p:spPr>
          <a:xfrm>
            <a:off x="79279" y="2959348"/>
            <a:ext cx="45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Prompts</a:t>
            </a:r>
            <a:endParaRPr/>
          </a:p>
        </p:txBody>
      </p:sp>
      <p:sp>
        <p:nvSpPr>
          <p:cNvPr id="168" name="Google Shape;168;h1d6895f2cb059417_2_0"/>
          <p:cNvSpPr txBox="1"/>
          <p:nvPr/>
        </p:nvSpPr>
        <p:spPr>
          <a:xfrm>
            <a:off x="3838529" y="2959348"/>
            <a:ext cx="45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Plus Jakarta Sans"/>
                <a:ea typeface="Plus Jakarta Sans"/>
                <a:cs typeface="Plus Jakarta Sans"/>
                <a:sym typeface="Plus Jakarta Sans"/>
              </a:rPr>
              <a:t>agens.md</a:t>
            </a: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file</a:t>
            </a:r>
            <a:endParaRPr/>
          </a:p>
        </p:txBody>
      </p:sp>
      <p:sp>
        <p:nvSpPr>
          <p:cNvPr id="169" name="Google Shape;169;h1d6895f2cb059417_2_0"/>
          <p:cNvSpPr txBox="1"/>
          <p:nvPr/>
        </p:nvSpPr>
        <p:spPr>
          <a:xfrm>
            <a:off x="4439286" y="3397502"/>
            <a:ext cx="333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Agents file rule AI coding agents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stack, the run command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which file does which job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 a never-do list (e.g.: .env file)</a:t>
            </a:r>
            <a:endParaRPr/>
          </a:p>
        </p:txBody>
      </p:sp>
      <p:sp>
        <p:nvSpPr>
          <p:cNvPr id="170" name="Google Shape;170;h1d6895f2cb059417_2_0"/>
          <p:cNvSpPr txBox="1"/>
          <p:nvPr/>
        </p:nvSpPr>
        <p:spPr>
          <a:xfrm>
            <a:off x="7616908" y="2959348"/>
            <a:ext cx="4495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</a:t>
            </a:r>
            <a:endParaRPr/>
          </a:p>
        </p:txBody>
      </p:sp>
      <p:sp>
        <p:nvSpPr>
          <p:cNvPr id="171" name="Google Shape;171;h1d6895f2cb059417_2_0"/>
          <p:cNvSpPr txBox="1"/>
          <p:nvPr/>
        </p:nvSpPr>
        <p:spPr>
          <a:xfrm>
            <a:off x="609600" y="609600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</a:t>
            </a:r>
            <a:endParaRPr>
              <a:solidFill>
                <a:srgbClr val="6DACBE"/>
              </a:solidFill>
            </a:endParaRPr>
          </a:p>
        </p:txBody>
      </p:sp>
      <p:sp>
        <p:nvSpPr>
          <p:cNvPr id="172" name="Google Shape;172;h1d6895f2cb059417_2_0"/>
          <p:cNvSpPr txBox="1"/>
          <p:nvPr/>
        </p:nvSpPr>
        <p:spPr>
          <a:xfrm>
            <a:off x="609600" y="962025"/>
            <a:ext cx="115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Implementations</a:t>
            </a:r>
            <a:endParaRPr/>
          </a:p>
        </p:txBody>
      </p:sp>
      <p:sp>
        <p:nvSpPr>
          <p:cNvPr id="173" name="Google Shape;173;h1d6895f2cb059417_2_0"/>
          <p:cNvSpPr txBox="1"/>
          <p:nvPr/>
        </p:nvSpPr>
        <p:spPr>
          <a:xfrm>
            <a:off x="679986" y="3397502"/>
            <a:ext cx="3332400" cy="27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Reusable templates generate content for marketing channels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Prompts include knowledge-base context, audience, language, tone, and content strategy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Channel-specific rules guide format and length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Accuracy rules require supported AMBOSS facts and prohibit unsupported medical claims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Revision prompts apply reviewer feedback while preserving the original requirements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4" name="Google Shape;174;h1d6895f2cb059417_2_0"/>
          <p:cNvSpPr txBox="1"/>
          <p:nvPr/>
        </p:nvSpPr>
        <p:spPr>
          <a:xfrm>
            <a:off x="8198586" y="3397502"/>
            <a:ext cx="3332400" cy="27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Language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3 (conda environment)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LLM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OpenAI API, gpt-4o-mini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Libraries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openai, python-dotenv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Knowledge base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Markdown files 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Terminal (python -m src.main)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Plus Jakarta Sans"/>
              <a:buChar char="●"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Teamwork</a:t>
            </a:r>
            <a:b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+ GitHub, Trello (Kanban), agents.md for AI coding agents 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/>
          <p:nvPr/>
        </p:nvSpPr>
        <p:spPr>
          <a:xfrm>
            <a:off x="609600" y="440350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DEMONSTRATION</a:t>
            </a:r>
            <a:endParaRPr>
              <a:solidFill>
                <a:srgbClr val="6DACBE"/>
              </a:solidFill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609600" y="792775"/>
            <a:ext cx="115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</a:t>
            </a:r>
            <a:endParaRPr/>
          </a:p>
        </p:txBody>
      </p:sp>
      <p:pic>
        <p:nvPicPr>
          <p:cNvPr id="181" name="Google Shape;18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9688" y="779638"/>
            <a:ext cx="8924167" cy="529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h112f3c18fd02c57c_0_33" title="AMBOSS_Content_Creator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3408"/>
            <a:ext cx="12192001" cy="5869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112f3c18fd02c57c_0_3"/>
          <p:cNvSpPr txBox="1"/>
          <p:nvPr/>
        </p:nvSpPr>
        <p:spPr>
          <a:xfrm>
            <a:off x="609600" y="440350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DEMONSTRATION</a:t>
            </a:r>
            <a:endParaRPr>
              <a:solidFill>
                <a:srgbClr val="6DACBE"/>
              </a:solidFill>
            </a:endParaRPr>
          </a:p>
        </p:txBody>
      </p:sp>
      <p:sp>
        <p:nvSpPr>
          <p:cNvPr id="192" name="Google Shape;192;h112f3c18fd02c57c_0_3"/>
          <p:cNvSpPr txBox="1"/>
          <p:nvPr/>
        </p:nvSpPr>
        <p:spPr>
          <a:xfrm>
            <a:off x="609600" y="792775"/>
            <a:ext cx="115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Uniqueness</a:t>
            </a:r>
            <a:endParaRPr/>
          </a:p>
        </p:txBody>
      </p:sp>
      <p:pic>
        <p:nvPicPr>
          <p:cNvPr id="193" name="Google Shape;193;h112f3c18fd02c57c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520000"/>
            <a:ext cx="5399600" cy="471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h112f3c18fd02c57c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300" y="231000"/>
            <a:ext cx="6229200" cy="616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1333500" y="2143125"/>
            <a:ext cx="445770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400800" y="2143125"/>
            <a:ext cx="4457700" cy="19050"/>
          </a:xfrm>
          <a:prstGeom prst="rect">
            <a:avLst/>
          </a:prstGeom>
          <a:solidFill>
            <a:srgbClr val="6DACB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-381000" y="652725"/>
            <a:ext cx="1295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Challenges faced &amp; solutions</a:t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1333500" y="1704975"/>
            <a:ext cx="455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Challenges </a:t>
            </a:r>
            <a:endParaRPr/>
          </a:p>
        </p:txBody>
      </p:sp>
      <p:sp>
        <p:nvSpPr>
          <p:cNvPr id="203" name="Google Shape;203;p9"/>
          <p:cNvSpPr txBox="1"/>
          <p:nvPr/>
        </p:nvSpPr>
        <p:spPr>
          <a:xfrm>
            <a:off x="6400800" y="1704975"/>
            <a:ext cx="455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Solutions</a:t>
            </a:r>
            <a:endParaRPr>
              <a:solidFill>
                <a:srgbClr val="6DACBE"/>
              </a:solidFill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333500" y="2466975"/>
            <a:ext cx="55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collab work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1333500" y="2743200"/>
            <a:ext cx="557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Still a learning process</a:t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1333500" y="3190875"/>
            <a:ext cx="55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to share the work</a:t>
            </a:r>
            <a:endParaRPr/>
          </a:p>
        </p:txBody>
      </p:sp>
      <p:sp>
        <p:nvSpPr>
          <p:cNvPr id="207" name="Google Shape;207;p9"/>
          <p:cNvSpPr txBox="1"/>
          <p:nvPr/>
        </p:nvSpPr>
        <p:spPr>
          <a:xfrm>
            <a:off x="1333500" y="3467100"/>
            <a:ext cx="445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Due to the project size, workload division can be challenging</a:t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6400800" y="2466975"/>
            <a:ext cx="55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GenAI support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6400800" y="2743200"/>
            <a:ext cx="557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Usage of GenAI tools to help with Github understanding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6400800" y="3190875"/>
            <a:ext cx="55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Prioritization + dynamic work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6400800" y="3467100"/>
            <a:ext cx="469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Knowledge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 tasks shared likewise as a starting  base, followed by dynamic collaboration</a:t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1333500" y="4122088"/>
            <a:ext cx="55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up and start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1333500" y="4398313"/>
            <a:ext cx="445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of the process that took the longer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6400763" y="4122100"/>
            <a:ext cx="557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Ironhack support 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6400763" y="4398325"/>
            <a:ext cx="5572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Followed the bootcamp  step-by-step material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/>
          <p:nvPr/>
        </p:nvSpPr>
        <p:spPr>
          <a:xfrm>
            <a:off x="609600" y="3114675"/>
            <a:ext cx="5486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09600" y="4076700"/>
            <a:ext cx="5486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09600" y="3114675"/>
            <a:ext cx="38100" cy="5810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09600" y="4076700"/>
            <a:ext cx="38100" cy="581025"/>
          </a:xfrm>
          <a:prstGeom prst="rect">
            <a:avLst/>
          </a:prstGeom>
          <a:solidFill>
            <a:srgbClr val="6DACB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609600" y="2200275"/>
            <a:ext cx="72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Kanban</a:t>
            </a:r>
            <a:r>
              <a:rPr b="1" lang="en-US" sz="3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Board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876300" y="3114675"/>
            <a:ext cx="652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1: </a:t>
            </a:r>
            <a:r>
              <a:rPr b="1" lang="en-US" sz="18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Understanding &amp; Organising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876300" y="3476625"/>
            <a:ext cx="652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WBS and Dod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876300" y="4076700"/>
            <a:ext cx="652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DACBE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Day 2: </a:t>
            </a:r>
            <a:r>
              <a:rPr b="1" lang="en-US" sz="1800">
                <a:solidFill>
                  <a:srgbClr val="6DACBE"/>
                </a:solidFill>
                <a:highlight>
                  <a:schemeClr val="lt1"/>
                </a:highlight>
                <a:latin typeface="Plus Jakarta Sans"/>
                <a:ea typeface="Plus Jakarta Sans"/>
                <a:cs typeface="Plus Jakarta Sans"/>
                <a:sym typeface="Plus Jakarta Sans"/>
              </a:rPr>
              <a:t>Flow</a:t>
            </a:r>
            <a:endParaRPr>
              <a:solidFill>
                <a:srgbClr val="6DACBE"/>
              </a:solidFill>
              <a:highlight>
                <a:schemeClr val="lt1"/>
              </a:highlight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876300" y="4438650"/>
            <a:ext cx="6524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Updating progress and reaching goals</a:t>
            </a:r>
            <a:endParaRPr/>
          </a:p>
        </p:txBody>
      </p:sp>
      <p:pic>
        <p:nvPicPr>
          <p:cNvPr id="229" name="Google Shape;22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450" y="353243"/>
            <a:ext cx="3965801" cy="254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450" y="4472868"/>
            <a:ext cx="3965801" cy="2267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0"/>
          <p:cNvPicPr preferRelativeResize="0"/>
          <p:nvPr/>
        </p:nvPicPr>
        <p:blipFill rotWithShape="1">
          <a:blip r:embed="rId5">
            <a:alphaModFix/>
          </a:blip>
          <a:srcRect b="7741" l="0" r="0" t="0"/>
          <a:stretch/>
        </p:blipFill>
        <p:spPr>
          <a:xfrm>
            <a:off x="7592092" y="2662168"/>
            <a:ext cx="3895026" cy="197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6694455" y="3335743"/>
            <a:ext cx="912000" cy="5811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6DACBE"/>
          </a:solidFill>
          <a:ln cap="flat" cmpd="sng" w="5350">
            <a:solidFill>
              <a:srgbClr val="6DAC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5690450" y="3013656"/>
            <a:ext cx="185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2 Work in progress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5690450" y="117756"/>
            <a:ext cx="2107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1 End of the day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5690450" y="4189518"/>
            <a:ext cx="185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 2 End of the day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/>
        </p:nvSpPr>
        <p:spPr>
          <a:xfrm>
            <a:off x="2545556" y="3418192"/>
            <a:ext cx="710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5316140" y="4317262"/>
            <a:ext cx="155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DACB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</a:t>
            </a:r>
            <a:r>
              <a:rPr b="0" i="0" lang="en-US" sz="18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/>
          </a:p>
        </p:txBody>
      </p:sp>
      <p:grpSp>
        <p:nvGrpSpPr>
          <p:cNvPr id="242" name="Google Shape;242;p11"/>
          <p:cNvGrpSpPr/>
          <p:nvPr/>
        </p:nvGrpSpPr>
        <p:grpSpPr>
          <a:xfrm>
            <a:off x="5249727" y="1530659"/>
            <a:ext cx="1692647" cy="1653040"/>
            <a:chOff x="8066800" y="2487900"/>
            <a:chExt cx="3012900" cy="2942400"/>
          </a:xfrm>
        </p:grpSpPr>
        <p:sp>
          <p:nvSpPr>
            <p:cNvPr id="243" name="Google Shape;243;p11"/>
            <p:cNvSpPr/>
            <p:nvPr/>
          </p:nvSpPr>
          <p:spPr>
            <a:xfrm>
              <a:off x="8066800" y="2487900"/>
              <a:ext cx="3012900" cy="2942400"/>
            </a:xfrm>
            <a:prstGeom prst="ellipse">
              <a:avLst/>
            </a:prstGeom>
            <a:solidFill>
              <a:schemeClr val="lt1"/>
            </a:solidFill>
            <a:ln cap="flat" cmpd="sng" w="53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1375" lIns="51375" spcFirstLastPara="1" rIns="51375" wrap="square" tIns="513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86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4" name="Google Shape;244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68325" y="3501567"/>
              <a:ext cx="2609850" cy="885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