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9144000"/>
  <p:embeddedFontLst>
    <p:embeddedFont>
      <p:font typeface="Plus Jakarta Sans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1" roundtripDataSignature="AMtx7mhFOHUXOAtzyQwWbomkAZCcX3D3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usJakarta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PlusJakartaSans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PlusJakartaSans-italic.fntdata"/><Relationship Id="rId6" Type="http://schemas.openxmlformats.org/officeDocument/2006/relationships/slide" Target="slides/slide1.xml"/><Relationship Id="rId18" Type="http://schemas.openxmlformats.org/officeDocument/2006/relationships/font" Target="fonts/PlusJakartaSa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h1051ff8d553358a1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h1051ff8d553358a1_0_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h112f3c18fd02c57c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h112f3c18fd02c57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h112f3c18fd02c57c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h112f3c18fd02c57c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drive.google.com/file/d/1c__S3JwKUh9nn3_Kfe7mShdskWJMAOv5/view" TargetMode="External"/><Relationship Id="rId4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5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609600" y="2592952"/>
            <a:ext cx="11582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Ironhack - AI Consulting &amp; Integration</a:t>
            </a:r>
            <a:endParaRPr>
              <a:solidFill>
                <a:srgbClr val="6DACBE"/>
              </a:solidFill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609600" y="3064076"/>
            <a:ext cx="98277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AMBOSS AI Content Creator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609600" y="3987826"/>
            <a:ext cx="653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Group 7: Barsha Mishra, Julia Antunes, Maximilian Kempa</a:t>
            </a:r>
            <a:endParaRPr>
              <a:solidFill>
                <a:srgbClr val="6DACBE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1" name="Google Shape;91;p2"/>
          <p:cNvPicPr preferRelativeResize="0"/>
          <p:nvPr/>
        </p:nvPicPr>
        <p:blipFill rotWithShape="1">
          <a:blip r:embed="rId3">
            <a:alphaModFix/>
          </a:blip>
          <a:srcRect b="-530" l="7281" r="14600" t="530"/>
          <a:stretch/>
        </p:blipFill>
        <p:spPr>
          <a:xfrm>
            <a:off x="0" y="0"/>
            <a:ext cx="4139976" cy="694372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"/>
          <p:cNvSpPr txBox="1"/>
          <p:nvPr/>
        </p:nvSpPr>
        <p:spPr>
          <a:xfrm>
            <a:off x="5029225" y="398597"/>
            <a:ext cx="6096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Overview and Motivation 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5217102" y="1848355"/>
            <a:ext cx="4036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Growing Industry</a:t>
            </a:r>
            <a:endParaRPr/>
          </a:p>
        </p:txBody>
      </p:sp>
      <p:sp>
        <p:nvSpPr>
          <p:cNvPr id="94" name="Google Shape;94;p2"/>
          <p:cNvSpPr txBox="1"/>
          <p:nvPr/>
        </p:nvSpPr>
        <p:spPr>
          <a:xfrm>
            <a:off x="5217102" y="2210305"/>
            <a:ext cx="4036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Ed/Healthtech offers a rich field for AI innovation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5217100" y="3556422"/>
            <a:ext cx="3917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Leverage Marketing Activities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5217100" y="3918370"/>
            <a:ext cx="5144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Support teams to create content in a fast paced environment 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5228175" y="5399024"/>
            <a:ext cx="40599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User friendly solution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5228175" y="5760974"/>
            <a:ext cx="4059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Teams can easily get the 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desired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output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5052150" y="1510214"/>
            <a:ext cx="38100" cy="1362000"/>
          </a:xfrm>
          <a:prstGeom prst="rect">
            <a:avLst/>
          </a:prstGeom>
          <a:solidFill>
            <a:srgbClr val="6DACB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5052150" y="3211614"/>
            <a:ext cx="38100" cy="1362000"/>
          </a:xfrm>
          <a:prstGeom prst="rect">
            <a:avLst/>
          </a:prstGeom>
          <a:solidFill>
            <a:srgbClr val="6DACB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5063225" y="4971839"/>
            <a:ext cx="38100" cy="1362000"/>
          </a:xfrm>
          <a:prstGeom prst="rect">
            <a:avLst/>
          </a:prstGeom>
          <a:solidFill>
            <a:srgbClr val="6DACB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/>
        </p:nvSpPr>
        <p:spPr>
          <a:xfrm>
            <a:off x="609600" y="609600"/>
            <a:ext cx="1158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FOUNDATION</a:t>
            </a:r>
            <a:endParaRPr>
              <a:solidFill>
                <a:srgbClr val="6DACBE"/>
              </a:solidFill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609600" y="962025"/>
            <a:ext cx="1158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Project Structure</a:t>
            </a:r>
            <a:endParaRPr/>
          </a:p>
        </p:txBody>
      </p:sp>
      <p:sp>
        <p:nvSpPr>
          <p:cNvPr id="108" name="Google Shape;108;p3"/>
          <p:cNvSpPr/>
          <p:nvPr/>
        </p:nvSpPr>
        <p:spPr>
          <a:xfrm>
            <a:off x="1233388" y="1741359"/>
            <a:ext cx="4503000" cy="4379721"/>
          </a:xfrm>
          <a:prstGeom prst="roundRect">
            <a:avLst>
              <a:gd fmla="val 7766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8188" y="2062435"/>
            <a:ext cx="381000" cy="32107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1538188" y="2624319"/>
            <a:ext cx="2575200" cy="254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Objectives (</a:t>
            </a:r>
            <a:r>
              <a:rPr b="1" i="0" lang="en-US" sz="16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</a:t>
            </a:r>
            <a:r>
              <a:rPr b="1" i="0" lang="en-US" sz="16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/ T / C)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1538188" y="3025664"/>
            <a:ext cx="384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Quality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Posts sounds like AMBOSS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Use only facts from our knowledge base 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Clearly different from a generic AI post 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1538188" y="4211154"/>
            <a:ext cx="3657600" cy="4155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Time</a:t>
            </a:r>
            <a:b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Hard deadline- final presentation on Day 3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1538188" y="4863446"/>
            <a:ext cx="3657600" cy="6235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Cost</a:t>
            </a:r>
            <a:endParaRPr b="1"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Low-cost model (gpt-4o-mini) and stay under API spend for the whole project</a:t>
            </a:r>
            <a:endParaRPr/>
          </a:p>
        </p:txBody>
      </p:sp>
      <p:grpSp>
        <p:nvGrpSpPr>
          <p:cNvPr id="114" name="Google Shape;114;p3"/>
          <p:cNvGrpSpPr/>
          <p:nvPr/>
        </p:nvGrpSpPr>
        <p:grpSpPr>
          <a:xfrm>
            <a:off x="6455613" y="1741350"/>
            <a:ext cx="4503000" cy="4544150"/>
            <a:chOff x="6455625" y="1741350"/>
            <a:chExt cx="4503000" cy="4544150"/>
          </a:xfrm>
        </p:grpSpPr>
        <p:sp>
          <p:nvSpPr>
            <p:cNvPr id="115" name="Google Shape;115;p3"/>
            <p:cNvSpPr/>
            <p:nvPr/>
          </p:nvSpPr>
          <p:spPr>
            <a:xfrm>
              <a:off x="6455625" y="1741350"/>
              <a:ext cx="4503000" cy="4379700"/>
            </a:xfrm>
            <a:prstGeom prst="roundRect">
              <a:avLst>
                <a:gd fmla="val 6986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descr="image.png" id="116" name="Google Shape;116;p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760413" y="2046212"/>
              <a:ext cx="381000" cy="304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" name="Google Shape;117;p3"/>
            <p:cNvSpPr txBox="1"/>
            <p:nvPr/>
          </p:nvSpPr>
          <p:spPr>
            <a:xfrm>
              <a:off x="6760413" y="2579612"/>
              <a:ext cx="25752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650" u="none" cap="none" strike="noStrike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Stakeholders</a:t>
              </a:r>
              <a:endParaRPr/>
            </a:p>
          </p:txBody>
        </p:sp>
        <p:sp>
          <p:nvSpPr>
            <p:cNvPr id="118" name="Google Shape;118;p3"/>
            <p:cNvSpPr txBox="1"/>
            <p:nvPr/>
          </p:nvSpPr>
          <p:spPr>
            <a:xfrm>
              <a:off x="6760413" y="2960600"/>
              <a:ext cx="4123500" cy="332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High Interest and High Influence</a:t>
              </a:r>
              <a:endParaRPr b="1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AMBOSS Marketing &amp; Content Team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AMBOSS Management / Project Sponsor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Project Team (AI Developers)</a:t>
              </a:r>
              <a:b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</a:b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High Interest and Low Influence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Regional Marketing Teams</a:t>
              </a:r>
              <a:b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</a:b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Low Interest and High Influence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AMBOSS Legal &amp; Data Protection Team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Low Interest and Low Influence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AMBOSS Medical Editorial Team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31432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350"/>
                <a:buFont typeface="Plus Jakarta Sans"/>
                <a:buChar char="●"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Medical Students &amp; Healthcare Professionals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h1051ff8d553358a1_0_47"/>
          <p:cNvGrpSpPr/>
          <p:nvPr/>
        </p:nvGrpSpPr>
        <p:grpSpPr>
          <a:xfrm>
            <a:off x="1298988" y="1741325"/>
            <a:ext cx="4503000" cy="4157700"/>
            <a:chOff x="609600" y="1659550"/>
            <a:chExt cx="4503000" cy="4157700"/>
          </a:xfrm>
        </p:grpSpPr>
        <p:sp>
          <p:nvSpPr>
            <p:cNvPr id="124" name="Google Shape;124;h1051ff8d553358a1_0_47"/>
            <p:cNvSpPr txBox="1"/>
            <p:nvPr/>
          </p:nvSpPr>
          <p:spPr>
            <a:xfrm>
              <a:off x="914400" y="2497750"/>
              <a:ext cx="25752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Risks</a:t>
              </a:r>
              <a:endParaRPr/>
            </a:p>
          </p:txBody>
        </p:sp>
        <p:sp>
          <p:nvSpPr>
            <p:cNvPr id="125" name="Google Shape;125;h1051ff8d553358a1_0_47"/>
            <p:cNvSpPr txBox="1"/>
            <p:nvPr/>
          </p:nvSpPr>
          <p:spPr>
            <a:xfrm>
              <a:off x="914400" y="2878750"/>
              <a:ext cx="3657600" cy="10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Insufficient or low-quality knowledge base data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Technical integration issues with the LLM API and content pipeline</a:t>
              </a:r>
              <a:endParaRPr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sp>
          <p:nvSpPr>
            <p:cNvPr id="126" name="Google Shape;126;h1051ff8d553358a1_0_47"/>
            <p:cNvSpPr txBox="1"/>
            <p:nvPr/>
          </p:nvSpPr>
          <p:spPr>
            <a:xfrm>
              <a:off x="914400" y="4121375"/>
              <a:ext cx="3657600" cy="41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Time</a:t>
              </a:r>
              <a:b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</a:b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Hard deadline- final presentation on Day 3</a:t>
              </a:r>
              <a:endParaRPr/>
            </a:p>
          </p:txBody>
        </p:sp>
        <p:sp>
          <p:nvSpPr>
            <p:cNvPr id="127" name="Google Shape;127;h1051ff8d553358a1_0_47"/>
            <p:cNvSpPr txBox="1"/>
            <p:nvPr/>
          </p:nvSpPr>
          <p:spPr>
            <a:xfrm>
              <a:off x="914400" y="4740600"/>
              <a:ext cx="3657600" cy="62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Cost</a:t>
              </a:r>
              <a:endParaRPr b="1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>
                  <a:solidFill>
                    <a:srgbClr val="475569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Low-cost model (gpt-4o-mini) and stay under API spend for the whole project</a:t>
              </a:r>
              <a:endParaRPr/>
            </a:p>
          </p:txBody>
        </p:sp>
        <p:sp>
          <p:nvSpPr>
            <p:cNvPr id="128" name="Google Shape;128;h1051ff8d553358a1_0_47"/>
            <p:cNvSpPr/>
            <p:nvPr/>
          </p:nvSpPr>
          <p:spPr>
            <a:xfrm>
              <a:off x="609600" y="1659550"/>
              <a:ext cx="4503000" cy="4157700"/>
            </a:xfrm>
            <a:prstGeom prst="roundRect">
              <a:avLst>
                <a:gd fmla="val 7766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9" name="Google Shape;129;h1051ff8d553358a1_0_47"/>
          <p:cNvSpPr txBox="1"/>
          <p:nvPr/>
        </p:nvSpPr>
        <p:spPr>
          <a:xfrm>
            <a:off x="609600" y="609600"/>
            <a:ext cx="1158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FOUNDATION</a:t>
            </a:r>
            <a:endParaRPr>
              <a:solidFill>
                <a:srgbClr val="6DACBE"/>
              </a:solidFill>
            </a:endParaRPr>
          </a:p>
        </p:txBody>
      </p:sp>
      <p:sp>
        <p:nvSpPr>
          <p:cNvPr id="130" name="Google Shape;130;h1051ff8d553358a1_0_47"/>
          <p:cNvSpPr txBox="1"/>
          <p:nvPr/>
        </p:nvSpPr>
        <p:spPr>
          <a:xfrm>
            <a:off x="609600" y="962025"/>
            <a:ext cx="1158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Project Structure </a:t>
            </a:r>
            <a:endParaRPr b="1" sz="30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1" name="Google Shape;131;h1051ff8d553358a1_0_47"/>
          <p:cNvSpPr/>
          <p:nvPr/>
        </p:nvSpPr>
        <p:spPr>
          <a:xfrm>
            <a:off x="6390013" y="1741325"/>
            <a:ext cx="4503000" cy="4157700"/>
          </a:xfrm>
          <a:prstGeom prst="roundRect">
            <a:avLst>
              <a:gd fmla="val 6986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h1051ff8d553358a1_0_47"/>
          <p:cNvSpPr txBox="1"/>
          <p:nvPr/>
        </p:nvSpPr>
        <p:spPr>
          <a:xfrm>
            <a:off x="6694813" y="2579587"/>
            <a:ext cx="2575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WBS Mapping</a:t>
            </a:r>
            <a:endParaRPr/>
          </a:p>
        </p:txBody>
      </p:sp>
      <p:sp>
        <p:nvSpPr>
          <p:cNvPr id="133" name="Google Shape;133;h1051ff8d553358a1_0_47"/>
          <p:cNvSpPr txBox="1"/>
          <p:nvPr/>
        </p:nvSpPr>
        <p:spPr>
          <a:xfrm>
            <a:off x="6694825" y="2960575"/>
            <a:ext cx="3945300" cy="27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Structure &amp; board</a:t>
            </a:r>
            <a:b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Set up, brainstorm and Trello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Knowledge bases</a:t>
            </a:r>
            <a:endParaRPr b="1"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Primary markdown and Secondary markdown set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Ingest &amp; context</a:t>
            </a:r>
            <a:b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Markdown loader and Prompts 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Generate &amp; differentiate</a:t>
            </a:r>
            <a:b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Running 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LLMs</a:t>
            </a:r>
            <a:b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End-to-end Pipeline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Testing and fine 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tuning</a:t>
            </a: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 b="1"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Final Adjustments and Output</a:t>
            </a:r>
            <a:endParaRPr b="1"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pic>
        <p:nvPicPr>
          <p:cNvPr descr="image.png" id="134" name="Google Shape;134;h1051ff8d553358a1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0088" y="2046125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h1051ff8d553358a1_0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94813" y="2039750"/>
            <a:ext cx="3429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h1051ff8d553358a1_0_47"/>
          <p:cNvSpPr txBox="1"/>
          <p:nvPr/>
        </p:nvSpPr>
        <p:spPr>
          <a:xfrm>
            <a:off x="1630088" y="2620512"/>
            <a:ext cx="25752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Risks</a:t>
            </a:r>
            <a:endParaRPr/>
          </a:p>
        </p:txBody>
      </p:sp>
      <p:sp>
        <p:nvSpPr>
          <p:cNvPr id="137" name="Google Shape;137;h1051ff8d553358a1_0_47"/>
          <p:cNvSpPr txBox="1"/>
          <p:nvPr/>
        </p:nvSpPr>
        <p:spPr>
          <a:xfrm>
            <a:off x="1630088" y="3001500"/>
            <a:ext cx="3708600" cy="22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</a:t>
            </a:r>
            <a:b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Insufficient or low-quality knowledge base data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Integration</a:t>
            </a:r>
            <a:b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Technical integration issues with the LLM API and content pipeline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50"/>
              <a:buFont typeface="Plus Jakarta Sans"/>
              <a:buChar char="●"/>
            </a:pPr>
            <a: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Bottlenecks</a:t>
            </a:r>
            <a:br>
              <a:rPr b="1"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Delays caused by limited development time and task dependencies</a:t>
            </a:r>
            <a:endParaRPr sz="1350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"/>
          <p:cNvSpPr txBox="1"/>
          <p:nvPr/>
        </p:nvSpPr>
        <p:spPr>
          <a:xfrm>
            <a:off x="605625" y="633449"/>
            <a:ext cx="5860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Knowledge Base Architecture</a:t>
            </a:r>
            <a:endParaRPr/>
          </a:p>
        </p:txBody>
      </p:sp>
      <p:sp>
        <p:nvSpPr>
          <p:cNvPr id="143" name="Google Shape;143;p4"/>
          <p:cNvSpPr txBox="1"/>
          <p:nvPr/>
        </p:nvSpPr>
        <p:spPr>
          <a:xfrm>
            <a:off x="4509725" y="3064787"/>
            <a:ext cx="6858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Primary</a:t>
            </a:r>
            <a:endParaRPr/>
          </a:p>
        </p:txBody>
      </p:sp>
      <p:sp>
        <p:nvSpPr>
          <p:cNvPr id="144" name="Google Shape;144;p4"/>
          <p:cNvSpPr txBox="1"/>
          <p:nvPr/>
        </p:nvSpPr>
        <p:spPr>
          <a:xfrm>
            <a:off x="4509725" y="3431375"/>
            <a:ext cx="6858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“write a brand_guidelines.md for AMBOSS company, based on their us instagram (@amboss_med) and website channels(amboss.com/us)”</a:t>
            </a:r>
            <a:endParaRPr/>
          </a:p>
        </p:txBody>
      </p:sp>
      <p:sp>
        <p:nvSpPr>
          <p:cNvPr id="145" name="Google Shape;145;p4"/>
          <p:cNvSpPr txBox="1"/>
          <p:nvPr/>
        </p:nvSpPr>
        <p:spPr>
          <a:xfrm>
            <a:off x="4509725" y="4253637"/>
            <a:ext cx="6858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Secondary</a:t>
            </a:r>
            <a:endParaRPr/>
          </a:p>
        </p:txBody>
      </p:sp>
      <p:sp>
        <p:nvSpPr>
          <p:cNvPr id="146" name="Google Shape;146;p4"/>
          <p:cNvSpPr txBox="1"/>
          <p:nvPr/>
        </p:nvSpPr>
        <p:spPr>
          <a:xfrm>
            <a:off x="4509725" y="4615587"/>
            <a:ext cx="6858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“write competitors analysis on https://www.amboss.com/us also with USPs, be short and concise. Find real data with facts, numbers and other business metrics”</a:t>
            </a:r>
            <a:endParaRPr/>
          </a:p>
        </p:txBody>
      </p:sp>
      <p:pic>
        <p:nvPicPr>
          <p:cNvPr id="147" name="Google Shape;14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606" y="1974063"/>
            <a:ext cx="3044594" cy="2909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4"/>
          <p:cNvSpPr txBox="1"/>
          <p:nvPr/>
        </p:nvSpPr>
        <p:spPr>
          <a:xfrm>
            <a:off x="4509725" y="1833287"/>
            <a:ext cx="6858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Website &amp; Social Media</a:t>
            </a:r>
            <a:endParaRPr/>
          </a:p>
        </p:txBody>
      </p:sp>
      <p:sp>
        <p:nvSpPr>
          <p:cNvPr id="149" name="Google Shape;149;p4"/>
          <p:cNvSpPr txBox="1"/>
          <p:nvPr/>
        </p:nvSpPr>
        <p:spPr>
          <a:xfrm>
            <a:off x="4509725" y="2223308"/>
            <a:ext cx="6858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Reference channels for prompting. US official channels for easier  language understanding.</a:t>
            </a:r>
            <a:endParaRPr/>
          </a:p>
        </p:txBody>
      </p:sp>
      <p:sp>
        <p:nvSpPr>
          <p:cNvPr id="150" name="Google Shape;150;p4"/>
          <p:cNvSpPr/>
          <p:nvPr/>
        </p:nvSpPr>
        <p:spPr>
          <a:xfrm>
            <a:off x="605625" y="5636488"/>
            <a:ext cx="10762200" cy="763200"/>
          </a:xfrm>
          <a:prstGeom prst="roundRect">
            <a:avLst>
              <a:gd fmla="val 16667" name="adj"/>
            </a:avLst>
          </a:prstGeom>
          <a:solidFill>
            <a:srgbClr val="6DACBE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1073406" y="5914132"/>
            <a:ext cx="1004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RAG usage: Project’s knowledge base is small and stable, so simpler method, injecting all into the prompt, works.</a:t>
            </a: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"/>
          <p:cNvSpPr txBox="1"/>
          <p:nvPr/>
        </p:nvSpPr>
        <p:spPr>
          <a:xfrm>
            <a:off x="609600" y="440350"/>
            <a:ext cx="1158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DEMONSTRATION</a:t>
            </a:r>
            <a:endParaRPr>
              <a:solidFill>
                <a:srgbClr val="6DACBE"/>
              </a:solidFill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609600" y="792775"/>
            <a:ext cx="1158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Pipeline</a:t>
            </a:r>
            <a:endParaRPr/>
          </a:p>
        </p:txBody>
      </p:sp>
      <p:pic>
        <p:nvPicPr>
          <p:cNvPr id="158" name="Google Shape;158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9688" y="779638"/>
            <a:ext cx="8924167" cy="5298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h112f3c18fd02c57c_0_33" title="AMBOSS_Content_Creator_Dem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373408"/>
            <a:ext cx="12192001" cy="58692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112f3c18fd02c57c_0_3"/>
          <p:cNvSpPr txBox="1"/>
          <p:nvPr/>
        </p:nvSpPr>
        <p:spPr>
          <a:xfrm>
            <a:off x="609600" y="440350"/>
            <a:ext cx="1158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DEMONSTRATION</a:t>
            </a:r>
            <a:endParaRPr>
              <a:solidFill>
                <a:srgbClr val="6DACBE"/>
              </a:solidFill>
            </a:endParaRPr>
          </a:p>
        </p:txBody>
      </p:sp>
      <p:sp>
        <p:nvSpPr>
          <p:cNvPr id="169" name="Google Shape;169;h112f3c18fd02c57c_0_3"/>
          <p:cNvSpPr txBox="1"/>
          <p:nvPr/>
        </p:nvSpPr>
        <p:spPr>
          <a:xfrm>
            <a:off x="609600" y="792775"/>
            <a:ext cx="1158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3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Uniqueness</a:t>
            </a:r>
            <a:endParaRPr/>
          </a:p>
        </p:txBody>
      </p:sp>
      <p:pic>
        <p:nvPicPr>
          <p:cNvPr id="170" name="Google Shape;170;h112f3c18fd02c57c_0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600" y="1520000"/>
            <a:ext cx="5399600" cy="471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h112f3c18fd02c57c_0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9300" y="231000"/>
            <a:ext cx="6229200" cy="6163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/>
          <p:nvPr/>
        </p:nvSpPr>
        <p:spPr>
          <a:xfrm>
            <a:off x="1333500" y="2143125"/>
            <a:ext cx="4457700" cy="1905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6400800" y="2143125"/>
            <a:ext cx="4457700" cy="19050"/>
          </a:xfrm>
          <a:prstGeom prst="rect">
            <a:avLst/>
          </a:prstGeom>
          <a:solidFill>
            <a:srgbClr val="6DACB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 txBox="1"/>
          <p:nvPr/>
        </p:nvSpPr>
        <p:spPr>
          <a:xfrm>
            <a:off x="-381000" y="652725"/>
            <a:ext cx="1295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Challenges faced &amp; solutions</a:t>
            </a:r>
            <a:endParaRPr/>
          </a:p>
        </p:txBody>
      </p:sp>
      <p:sp>
        <p:nvSpPr>
          <p:cNvPr id="179" name="Google Shape;179;p9"/>
          <p:cNvSpPr txBox="1"/>
          <p:nvPr/>
        </p:nvSpPr>
        <p:spPr>
          <a:xfrm>
            <a:off x="1333500" y="1704975"/>
            <a:ext cx="4553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Challenges </a:t>
            </a:r>
            <a:endParaRPr/>
          </a:p>
        </p:txBody>
      </p:sp>
      <p:sp>
        <p:nvSpPr>
          <p:cNvPr id="180" name="Google Shape;180;p9"/>
          <p:cNvSpPr txBox="1"/>
          <p:nvPr/>
        </p:nvSpPr>
        <p:spPr>
          <a:xfrm>
            <a:off x="6400800" y="1704975"/>
            <a:ext cx="4553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Solutions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1333500" y="2466975"/>
            <a:ext cx="5572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Github collab work</a:t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1333500" y="2743200"/>
            <a:ext cx="5572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Still a learning process</a:t>
            </a:r>
            <a:endParaRPr/>
          </a:p>
        </p:txBody>
      </p:sp>
      <p:sp>
        <p:nvSpPr>
          <p:cNvPr id="183" name="Google Shape;183;p9"/>
          <p:cNvSpPr txBox="1"/>
          <p:nvPr/>
        </p:nvSpPr>
        <p:spPr>
          <a:xfrm>
            <a:off x="1333500" y="3190875"/>
            <a:ext cx="5572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How to share the work</a:t>
            </a:r>
            <a:endParaRPr/>
          </a:p>
        </p:txBody>
      </p:sp>
      <p:sp>
        <p:nvSpPr>
          <p:cNvPr id="184" name="Google Shape;184;p9"/>
          <p:cNvSpPr txBox="1"/>
          <p:nvPr/>
        </p:nvSpPr>
        <p:spPr>
          <a:xfrm>
            <a:off x="1333500" y="3467100"/>
            <a:ext cx="4457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Due to the project size, workload division can be challenging</a:t>
            </a:r>
            <a:endParaRPr/>
          </a:p>
        </p:txBody>
      </p:sp>
      <p:sp>
        <p:nvSpPr>
          <p:cNvPr id="185" name="Google Shape;185;p9"/>
          <p:cNvSpPr txBox="1"/>
          <p:nvPr/>
        </p:nvSpPr>
        <p:spPr>
          <a:xfrm>
            <a:off x="6400800" y="2466975"/>
            <a:ext cx="5572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GenAI support</a:t>
            </a:r>
            <a:endParaRPr/>
          </a:p>
        </p:txBody>
      </p:sp>
      <p:sp>
        <p:nvSpPr>
          <p:cNvPr id="186" name="Google Shape;186;p9"/>
          <p:cNvSpPr txBox="1"/>
          <p:nvPr/>
        </p:nvSpPr>
        <p:spPr>
          <a:xfrm>
            <a:off x="6400800" y="2743200"/>
            <a:ext cx="5572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Usage of GenAI tools to help with Github understanding</a:t>
            </a:r>
            <a:endParaRPr/>
          </a:p>
        </p:txBody>
      </p:sp>
      <p:sp>
        <p:nvSpPr>
          <p:cNvPr id="187" name="Google Shape;187;p9"/>
          <p:cNvSpPr txBox="1"/>
          <p:nvPr/>
        </p:nvSpPr>
        <p:spPr>
          <a:xfrm>
            <a:off x="6400800" y="3190875"/>
            <a:ext cx="5572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Prioritization + dynamic work</a:t>
            </a:r>
            <a:endParaRPr/>
          </a:p>
        </p:txBody>
      </p:sp>
      <p:sp>
        <p:nvSpPr>
          <p:cNvPr id="188" name="Google Shape;188;p9"/>
          <p:cNvSpPr txBox="1"/>
          <p:nvPr/>
        </p:nvSpPr>
        <p:spPr>
          <a:xfrm>
            <a:off x="6400800" y="3467100"/>
            <a:ext cx="4697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Knowledge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base tasks shared likewise as a starting  base, followed by dynamic collaboration</a:t>
            </a:r>
            <a:endParaRPr/>
          </a:p>
        </p:txBody>
      </p:sp>
      <p:sp>
        <p:nvSpPr>
          <p:cNvPr id="189" name="Google Shape;189;p9"/>
          <p:cNvSpPr txBox="1"/>
          <p:nvPr/>
        </p:nvSpPr>
        <p:spPr>
          <a:xfrm>
            <a:off x="1333500" y="4122088"/>
            <a:ext cx="5572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Set up and start</a:t>
            </a:r>
            <a:endParaRPr/>
          </a:p>
        </p:txBody>
      </p:sp>
      <p:sp>
        <p:nvSpPr>
          <p:cNvPr id="190" name="Google Shape;190;p9"/>
          <p:cNvSpPr txBox="1"/>
          <p:nvPr/>
        </p:nvSpPr>
        <p:spPr>
          <a:xfrm>
            <a:off x="1333500" y="4398313"/>
            <a:ext cx="445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Part</a:t>
            </a: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of the process that took the longer</a:t>
            </a:r>
            <a:endParaRPr/>
          </a:p>
        </p:txBody>
      </p:sp>
      <p:sp>
        <p:nvSpPr>
          <p:cNvPr id="191" name="Google Shape;191;p9"/>
          <p:cNvSpPr txBox="1"/>
          <p:nvPr/>
        </p:nvSpPr>
        <p:spPr>
          <a:xfrm>
            <a:off x="6400763" y="4122100"/>
            <a:ext cx="5572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Ironhack support </a:t>
            </a:r>
            <a:endParaRPr/>
          </a:p>
        </p:txBody>
      </p:sp>
      <p:sp>
        <p:nvSpPr>
          <p:cNvPr id="192" name="Google Shape;192;p9"/>
          <p:cNvSpPr txBox="1"/>
          <p:nvPr/>
        </p:nvSpPr>
        <p:spPr>
          <a:xfrm>
            <a:off x="6400763" y="4398325"/>
            <a:ext cx="5572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Followed the bootcamp  step-by-step material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"/>
          <p:cNvSpPr/>
          <p:nvPr/>
        </p:nvSpPr>
        <p:spPr>
          <a:xfrm>
            <a:off x="609600" y="3114675"/>
            <a:ext cx="5486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609600" y="4076700"/>
            <a:ext cx="54864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/>
          <p:nvPr/>
        </p:nvSpPr>
        <p:spPr>
          <a:xfrm>
            <a:off x="609600" y="3114675"/>
            <a:ext cx="38100" cy="5810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609600" y="4076700"/>
            <a:ext cx="38100" cy="581025"/>
          </a:xfrm>
          <a:prstGeom prst="rect">
            <a:avLst/>
          </a:prstGeom>
          <a:solidFill>
            <a:srgbClr val="6DACB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 txBox="1"/>
          <p:nvPr/>
        </p:nvSpPr>
        <p:spPr>
          <a:xfrm>
            <a:off x="609600" y="2200275"/>
            <a:ext cx="7200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Kanban</a:t>
            </a:r>
            <a:r>
              <a:rPr b="1" lang="en-US" sz="30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b="1" i="0" lang="en-US" sz="30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Board</a:t>
            </a:r>
            <a:endParaRPr/>
          </a:p>
        </p:txBody>
      </p:sp>
      <p:sp>
        <p:nvSpPr>
          <p:cNvPr id="202" name="Google Shape;202;p10"/>
          <p:cNvSpPr txBox="1"/>
          <p:nvPr/>
        </p:nvSpPr>
        <p:spPr>
          <a:xfrm>
            <a:off x="876300" y="3114675"/>
            <a:ext cx="6524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Day 1: </a:t>
            </a:r>
            <a:r>
              <a:rPr b="1" lang="en-US" sz="18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Understanding &amp; Organising</a:t>
            </a:r>
            <a:endParaRPr/>
          </a:p>
        </p:txBody>
      </p:sp>
      <p:sp>
        <p:nvSpPr>
          <p:cNvPr id="203" name="Google Shape;203;p10"/>
          <p:cNvSpPr txBox="1"/>
          <p:nvPr/>
        </p:nvSpPr>
        <p:spPr>
          <a:xfrm>
            <a:off x="876300" y="3476625"/>
            <a:ext cx="6524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WBS and Dod</a:t>
            </a:r>
            <a:endParaRPr/>
          </a:p>
        </p:txBody>
      </p:sp>
      <p:sp>
        <p:nvSpPr>
          <p:cNvPr id="204" name="Google Shape;204;p10"/>
          <p:cNvSpPr txBox="1"/>
          <p:nvPr/>
        </p:nvSpPr>
        <p:spPr>
          <a:xfrm>
            <a:off x="876300" y="4076700"/>
            <a:ext cx="6524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ACBE"/>
                </a:solidFill>
                <a:highlight>
                  <a:schemeClr val="lt1"/>
                </a:highlight>
                <a:latin typeface="Plus Jakarta Sans"/>
                <a:ea typeface="Plus Jakarta Sans"/>
                <a:cs typeface="Plus Jakarta Sans"/>
                <a:sym typeface="Plus Jakarta Sans"/>
              </a:rPr>
              <a:t>Day 2: </a:t>
            </a:r>
            <a:r>
              <a:rPr b="1" lang="en-US" sz="1800">
                <a:solidFill>
                  <a:srgbClr val="6DACBE"/>
                </a:solidFill>
                <a:highlight>
                  <a:schemeClr val="lt1"/>
                </a:highlight>
                <a:latin typeface="Plus Jakarta Sans"/>
                <a:ea typeface="Plus Jakarta Sans"/>
                <a:cs typeface="Plus Jakarta Sans"/>
                <a:sym typeface="Plus Jakarta Sans"/>
              </a:rPr>
              <a:t>Flow</a:t>
            </a:r>
            <a:endParaRPr>
              <a:solidFill>
                <a:srgbClr val="6DACBE"/>
              </a:solidFill>
              <a:highlight>
                <a:schemeClr val="lt1"/>
              </a:highlight>
            </a:endParaRPr>
          </a:p>
        </p:txBody>
      </p:sp>
      <p:sp>
        <p:nvSpPr>
          <p:cNvPr id="205" name="Google Shape;205;p10"/>
          <p:cNvSpPr txBox="1"/>
          <p:nvPr/>
        </p:nvSpPr>
        <p:spPr>
          <a:xfrm>
            <a:off x="876300" y="4438650"/>
            <a:ext cx="6524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Updating progress and reaching goals</a:t>
            </a:r>
            <a:endParaRPr/>
          </a:p>
        </p:txBody>
      </p:sp>
      <p:pic>
        <p:nvPicPr>
          <p:cNvPr id="206" name="Google Shape;20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90450" y="353243"/>
            <a:ext cx="3965801" cy="2546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90450" y="4472868"/>
            <a:ext cx="3965801" cy="22673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0"/>
          <p:cNvPicPr preferRelativeResize="0"/>
          <p:nvPr/>
        </p:nvPicPr>
        <p:blipFill rotWithShape="1">
          <a:blip r:embed="rId5">
            <a:alphaModFix/>
          </a:blip>
          <a:srcRect b="7741" l="0" r="0" t="0"/>
          <a:stretch/>
        </p:blipFill>
        <p:spPr>
          <a:xfrm>
            <a:off x="7592092" y="2662168"/>
            <a:ext cx="3895026" cy="19713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0"/>
          <p:cNvSpPr/>
          <p:nvPr/>
        </p:nvSpPr>
        <p:spPr>
          <a:xfrm>
            <a:off x="6694455" y="3335743"/>
            <a:ext cx="912000" cy="581100"/>
          </a:xfrm>
          <a:prstGeom prst="curvedRightArrow">
            <a:avLst>
              <a:gd fmla="val 25000" name="adj1"/>
              <a:gd fmla="val 50000" name="adj2"/>
              <a:gd fmla="val 25000" name="adj3"/>
            </a:avLst>
          </a:prstGeom>
          <a:solidFill>
            <a:srgbClr val="6DACBE"/>
          </a:solidFill>
          <a:ln cap="flat" cmpd="sng" w="5350">
            <a:solidFill>
              <a:srgbClr val="6DACB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 txBox="1"/>
          <p:nvPr/>
        </p:nvSpPr>
        <p:spPr>
          <a:xfrm>
            <a:off x="5690450" y="3013656"/>
            <a:ext cx="1854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Day 2 Work in progress</a:t>
            </a:r>
            <a:endParaRPr/>
          </a:p>
        </p:txBody>
      </p:sp>
      <p:sp>
        <p:nvSpPr>
          <p:cNvPr id="211" name="Google Shape;211;p10"/>
          <p:cNvSpPr txBox="1"/>
          <p:nvPr/>
        </p:nvSpPr>
        <p:spPr>
          <a:xfrm>
            <a:off x="5690450" y="117756"/>
            <a:ext cx="2107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Day 1 End of the day</a:t>
            </a:r>
            <a:endParaRPr/>
          </a:p>
        </p:txBody>
      </p:sp>
      <p:sp>
        <p:nvSpPr>
          <p:cNvPr id="212" name="Google Shape;212;p10"/>
          <p:cNvSpPr txBox="1"/>
          <p:nvPr/>
        </p:nvSpPr>
        <p:spPr>
          <a:xfrm>
            <a:off x="5690450" y="4189518"/>
            <a:ext cx="18546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Day 2 End of the day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1"/>
          <p:cNvSpPr txBox="1"/>
          <p:nvPr/>
        </p:nvSpPr>
        <p:spPr>
          <a:xfrm>
            <a:off x="2545556" y="3199930"/>
            <a:ext cx="7101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Thank you!</a:t>
            </a:r>
            <a:endParaRPr/>
          </a:p>
        </p:txBody>
      </p:sp>
      <p:sp>
        <p:nvSpPr>
          <p:cNvPr id="218" name="Google Shape;218;p11"/>
          <p:cNvSpPr txBox="1"/>
          <p:nvPr/>
        </p:nvSpPr>
        <p:spPr>
          <a:xfrm>
            <a:off x="5316140" y="4099000"/>
            <a:ext cx="1559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DACB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Questions</a:t>
            </a:r>
            <a:r>
              <a:rPr b="0" i="0" lang="en-US" sz="180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?</a:t>
            </a:r>
            <a:endParaRPr/>
          </a:p>
        </p:txBody>
      </p:sp>
      <p:grpSp>
        <p:nvGrpSpPr>
          <p:cNvPr id="219" name="Google Shape;219;p11"/>
          <p:cNvGrpSpPr/>
          <p:nvPr/>
        </p:nvGrpSpPr>
        <p:grpSpPr>
          <a:xfrm>
            <a:off x="5249727" y="1312397"/>
            <a:ext cx="1692647" cy="1653040"/>
            <a:chOff x="8066800" y="2487900"/>
            <a:chExt cx="3012900" cy="2942400"/>
          </a:xfrm>
        </p:grpSpPr>
        <p:sp>
          <p:nvSpPr>
            <p:cNvPr id="220" name="Google Shape;220;p11"/>
            <p:cNvSpPr/>
            <p:nvPr/>
          </p:nvSpPr>
          <p:spPr>
            <a:xfrm>
              <a:off x="8066800" y="2487900"/>
              <a:ext cx="3012900" cy="2942400"/>
            </a:xfrm>
            <a:prstGeom prst="ellipse">
              <a:avLst/>
            </a:prstGeom>
            <a:solidFill>
              <a:schemeClr val="lt1"/>
            </a:solidFill>
            <a:ln cap="flat" cmpd="sng" w="53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51375" lIns="51375" spcFirstLastPara="1" rIns="51375" wrap="square" tIns="513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786"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1" name="Google Shape;221;p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268325" y="3501567"/>
              <a:ext cx="2609850" cy="8858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